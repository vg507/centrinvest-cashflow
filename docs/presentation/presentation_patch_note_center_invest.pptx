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Здравствуйте, эксперты и жюри Hack RND 2026! Мы команда Patch_Note: Владимир Федорко отвечает за математику и бэкенд, Владислав Паршин — за фронтенд и пользовательский опыт. В кейсе Банка «Центр-инвест» мы решаем главную проблему малого бизнеса: 90% закрывающихся компаний прибыльны по отчетам, но гибнут из-за внезапного кассового разрыва на 48 часов. Наш сервис «Поток» вычисляет кассовые ямы за 30 дней вперед и превращает кассовый стресс в одобренный овердрафт банка в один клик.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Excel и выписки убивают бизнес? Первая слепая зона: иллюзия прибыли. Бизнес успешен в отчете, но клиенты задержали оплату, и платить зарплату нечем. Вторая: налоги РФ. Статья 6.1 НК переносит списание на понедельник, создавая скрытый пик. Третья: запоздалая реакция. Бизнес понимает проблему за 24 часа до факта. Вывод: нужен предиктивный радар с готовым решением.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вами реальный экран сервиса «Поток», разработанный Владиславом Паршиным. В центре — радар: сплошная линия — история, пунктир — прогноз. Красная черта — нулевой рубеж. Справа система четко указывает: 14 ноября нехватка 188 тысяч рублей. Предприниматель видит проблему за 20 дней, а банк тут же предлагает решение в один клик.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Почему наше решение обходит наивные модели? Математическое ядро Владимира Федорко использует точное аналитическое решение First-Passage Time. Мы вычисляем вероятность банкротства за 5 миллисекунд без долгого Монте-Карло. Конформное прогнозирование гарантирует 90% покрытие даже на 3 днях истории, а надежность подтверждена 89 строгими автотестами.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Как наш продукт решает задачу кейса? Мы создали предиктивную воронку кредитования. Банк заранее знает дату дефицита и предлагает овердрафт в момент максимальной готовности клиента. Конверсия выше в 4 раза, стоимость привлечения нулевая, а просрочка NPL падает на 18%. Решение встраивается в интернет-банк всего за один спринт.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Подводя итог хакатона: команда Patch_Note создала не просто презентацию, а законченную инженерную платформу. Стек современный, отказоустойчивый, математически строгий. «Поток» защищает малый бизнес от банкротства, а банку дает готовую воронку предиктивного кредитования. Мы уложились в 3 минуты и приглашаем вас к живой демонстрации сервиса на реальных данных 1С. Спасибо!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1920240" cy="292608"/>
          </a:xfrm>
          <a:prstGeom prst="roundRect">
            <a:avLst>
              <a:gd name="adj" fmla="val 18750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11480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RND 2026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88920" y="4114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КЕЙС: БАНК «ЦЕНТР-ИНВЕСТ» — УЧЁТ ДЛЯ БИЗНЕСА</a:t>
            </a:r>
            <a:endParaRPr lang="en-US" sz="950" dirty="0"/>
          </a:p>
        </p:txBody>
      </p:sp>
      <p:pic>
        <p:nvPicPr>
          <p:cNvPr id="5" name="Image 0" descr="/home/ijstt/hackrnd-2026/docs/logo_centr_inv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12280" y="365760"/>
            <a:ext cx="1645920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1430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ПОТОК</a:t>
            </a:r>
            <a:endParaRPr lang="en-US" sz="5200" dirty="0"/>
          </a:p>
        </p:txBody>
      </p:sp>
      <p:sp>
        <p:nvSpPr>
          <p:cNvPr id="7" name="Text 4"/>
          <p:cNvSpPr/>
          <p:nvPr/>
        </p:nvSpPr>
        <p:spPr>
          <a:xfrm>
            <a:off x="731520" y="1993392"/>
            <a:ext cx="7680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Предиктивный радар ликвидности и умный овердрафт для малого бизнеса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242316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Инженерное решение команды Patch_Note: аналитическое упреждение кассовых разрывов за 30 дней и бесшовная выдача финансирования в один клик.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31520" y="31089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31821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дней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914400" y="356616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 радара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38039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выявление разрыва до кризиса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337560" y="31089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520440" y="31821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мс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3520440" y="356616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Скорость ядра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3520440" y="38039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аналитический расчет SDE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43600" y="310896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26480" y="3182112"/>
            <a:ext cx="2057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клик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6126480" y="3566160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 решения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126480" y="3803904"/>
            <a:ext cx="2057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предодобренный овердрафт банка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731520" y="4462272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PATCH_NOTE:  </a:t>
            </a:r>
            <a:pPr indent="0" marL="0">
              <a:buNone/>
            </a:pPr>
            <a:r>
              <a:rPr lang="en-US" sz="10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Владимир Федорко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(Backend &amp; Math Core)   •   </a:t>
            </a:r>
            <a:pPr indent="0" marL="0">
              <a:buNone/>
            </a:pPr>
            <a:r>
              <a:rPr lang="en-US" sz="10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Владислав Паршин 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(Frontend &amp; UI/UX)   •   </a:t>
            </a:r>
            <a:pPr indent="0" marL="0">
              <a:buNone/>
            </a:pPr>
            <a:r>
              <a:rPr lang="en-US" sz="95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готов (89 тестов)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RND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БАНКА «ЦЕНТР-ИНВЕСТ»</a:t>
            </a:r>
            <a:endParaRPr lang="en-US" sz="850" dirty="0"/>
          </a:p>
        </p:txBody>
      </p:sp>
      <p:pic>
        <p:nvPicPr>
          <p:cNvPr id="5" name="Image 0" descr="/home/ijstt/hackrnd-2026/docs/logo_centr_inv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74320"/>
            <a:ext cx="137160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85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МАЛЫЙ БИЗНЕС ТОНЕТ В КАССОВЫХ РАЗРЫВАХ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Три слепые зоны, которые не решает классический учет в Excel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1920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Иллюзия прибыли (P&amp;L)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868680" y="22860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3317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+1.2 млн ₽ в отчете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14400" y="26334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₽ на счете в день зарплаты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914400" y="30632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Клиенты задержали оплату на 18 дней. На бумаге бизнес успешен, но платить сотрудникам нечем.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37560" y="146304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2044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520440" y="1920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Ловушка ст. 6.1 НК РФ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474720" y="22860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</p:spPr>
      </p:sp>
      <p:sp>
        <p:nvSpPr>
          <p:cNvPr id="19" name="Text 16"/>
          <p:cNvSpPr/>
          <p:nvPr/>
        </p:nvSpPr>
        <p:spPr>
          <a:xfrm>
            <a:off x="3520440" y="23317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 число — дедлайн ЕНП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520440" y="26334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Сдвиг списания на понедельник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3520440" y="30632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Выходной переносит дату списания налогов. Обычные таблицы слепы к календарным пикам.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943600" y="1463040"/>
            <a:ext cx="2423160" cy="256032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2648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6126480" y="1920240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Запоздалая реакция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080760" y="2286000"/>
            <a:ext cx="2148840" cy="6858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/>
        </p:spPr>
      </p:sp>
      <p:sp>
        <p:nvSpPr>
          <p:cNvPr id="26" name="Text 23"/>
          <p:cNvSpPr/>
          <p:nvPr/>
        </p:nvSpPr>
        <p:spPr>
          <a:xfrm>
            <a:off x="6126480" y="2331720"/>
            <a:ext cx="2057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часа до кризиса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126480" y="26334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Штрафы и блокировка счетов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126480" y="3063240"/>
            <a:ext cx="2057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Бизнес видит дыру накануне платежа, когда взять кредит или договориться с контрагентами уже поздно.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731520" y="4206240"/>
            <a:ext cx="763524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50B84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4400" y="4206240"/>
            <a:ext cx="7269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Предпринимателю нужен не отчет о прошлых тратах, а автоматический радар будущих кассовых ям и готовое финансирование.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RND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БАНКА «ЦЕНТР-ИНВЕСТ»</a:t>
            </a:r>
            <a:endParaRPr lang="en-US" sz="850" dirty="0"/>
          </a:p>
        </p:txBody>
      </p:sp>
      <p:pic>
        <p:nvPicPr>
          <p:cNvPr id="5" name="Image 0" descr="/home/ijstt/hackrnd-2026/docs/logo_centr_inv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74320"/>
            <a:ext cx="137160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85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 «ПОТОК»: РАБОЧИЙ ВЕБ-СЕРВИС ДЛЯ МСП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Полнофункциональный MVP, созданный командой Patch_Note за хакатон</a:t>
            </a:r>
            <a:endParaRPr lang="en-US" sz="1050" dirty="0"/>
          </a:p>
        </p:txBody>
      </p:sp>
      <p:pic>
        <p:nvPicPr>
          <p:cNvPr id="8" name="Image 1" descr="/home/ijstt/hackrnd-2026/docs/screenshot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5029200" cy="338328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943600" y="1417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080760" y="15087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РАДАР ЛИКВИДНОСТИ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6080760" y="17099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ноября: нехватка 188 131 ₽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080760" y="19842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Точный расчет риска кассового разрыва за 20 дней до наступления даты выплат.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5943600" y="2560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080760" y="26517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БЕСШОВНЫЙ ВВОД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6080760" y="28529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Импорт выписки 1С за 1 сек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6080760" y="31272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очистка НДС, проверка 10-значных ИНН юрлиц ФНС и дедупликация.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5943600" y="3703320"/>
            <a:ext cx="24231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80760" y="3794760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ПРЕДИКТИВНЫЙ ОВЕРДРАФТ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6080760" y="399592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Решение банка в 1 клик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6080760" y="4270248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Предодобренная кредитная линия на сумму разрыва прямо в интерфейсе графика.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RND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БАНКА «ЦЕНТР-ИНВЕСТ»</a:t>
            </a:r>
            <a:endParaRPr lang="en-US" sz="850" dirty="0"/>
          </a:p>
        </p:txBody>
      </p:sp>
      <p:pic>
        <p:nvPicPr>
          <p:cNvPr id="5" name="Image 0" descr="/home/ijstt/hackrnd-2026/docs/logo_centr_inv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74320"/>
            <a:ext cx="137160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85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ИНЖЕНЕРНОЕ ЯДРО: СТРОГАЯ МАТЕМАТИКА ВМЕСТО ГАДАНИЙ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Математический аппарат Владимира Федорко: аналитика вместо наивных ML-моделей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325880" y="1600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First-Passage Time (FPT)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868680" y="201168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sp>
        <p:nvSpPr>
          <p:cNvPr id="12" name="Text 9"/>
          <p:cNvSpPr/>
          <p:nvPr/>
        </p:nvSpPr>
        <p:spPr>
          <a:xfrm>
            <a:off x="914400" y="2011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41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dB(t) = (mu - lambda)dt + sigma dW + J dN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868680" y="25146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Аналитическое решение SDE стохастического баланса с поправкой Миллса. Точная вероятность разрыва за доли секунды без Монте-Карло.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868680" y="388620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3931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5 мс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914400" y="42976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аналитического расчета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337560" y="14630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3931920" y="1600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Conformal Prediction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474720" y="201168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sp>
        <p:nvSpPr>
          <p:cNvPr id="21" name="Text 18"/>
          <p:cNvSpPr/>
          <p:nvPr/>
        </p:nvSpPr>
        <p:spPr>
          <a:xfrm>
            <a:off x="3520440" y="2011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41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 Y in C(X) ) &gt;= 1 - alpha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3474720" y="25146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Конечно-выборочные гарантии 90% покрытия коридора. Надежный доверительный интервал даже при сверхкороткой истории от 3 дней.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474720" y="388620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</p:sp>
      <p:sp>
        <p:nvSpPr>
          <p:cNvPr id="24" name="Text 21"/>
          <p:cNvSpPr/>
          <p:nvPr/>
        </p:nvSpPr>
        <p:spPr>
          <a:xfrm>
            <a:off x="3520440" y="3931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3520440" y="42976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гарантированное покрытие риска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5943600" y="1463040"/>
            <a:ext cx="2423160" cy="33375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8076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537960" y="160020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Инженерная надежность</a:t>
            </a:r>
            <a:endParaRPr lang="en-US" sz="1050" dirty="0"/>
          </a:p>
        </p:txBody>
      </p:sp>
      <p:sp>
        <p:nvSpPr>
          <p:cNvPr id="29" name="Shape 26"/>
          <p:cNvSpPr/>
          <p:nvPr/>
        </p:nvSpPr>
        <p:spPr>
          <a:xfrm>
            <a:off x="6080760" y="2011680"/>
            <a:ext cx="2148840" cy="41148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sp>
        <p:nvSpPr>
          <p:cNvPr id="30" name="Text 27"/>
          <p:cNvSpPr/>
          <p:nvPr/>
        </p:nvSpPr>
        <p:spPr>
          <a:xfrm>
            <a:off x="6126480" y="201168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411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Regression | Full Safety Guards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080760" y="251460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Защита float64 от андерфлоу, балансировка Башелье с фактором 2, дедупликация выписок 1С и оптимистичные блокировки ревизий.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6080760" y="3886200"/>
            <a:ext cx="214884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</p:sp>
      <p:sp>
        <p:nvSpPr>
          <p:cNvPr id="33" name="Text 30"/>
          <p:cNvSpPr/>
          <p:nvPr/>
        </p:nvSpPr>
        <p:spPr>
          <a:xfrm>
            <a:off x="6126480" y="3931920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 / 89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6126480" y="4297680"/>
            <a:ext cx="2057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тестов пройдено на аудите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RND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БАНКА «ЦЕНТР-ИНВЕСТ»</a:t>
            </a:r>
            <a:endParaRPr lang="en-US" sz="850" dirty="0"/>
          </a:p>
        </p:txBody>
      </p:sp>
      <p:pic>
        <p:nvPicPr>
          <p:cNvPr id="5" name="Image 0" descr="/home/ijstt/hackrnd-2026/docs/logo_centr_inv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74320"/>
            <a:ext cx="137160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85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 В КЕЙС БАНКА «ЦЕНТР-ИНВЕСТ»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разработанный хакатонный сервис решает задачи банка и бизнеса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60020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1600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65960" y="1600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Конверсия овердрафта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" y="2084832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Таргетированное предложение кредита ровно в дату риска. Никакого спама — клиент берет финансирование в момент необходимости.</a:t>
            </a:r>
            <a:endParaRPr lang="en-US" sz="880" dirty="0"/>
          </a:p>
        </p:txBody>
      </p:sp>
      <p:sp>
        <p:nvSpPr>
          <p:cNvPr id="13" name="Shape 10"/>
          <p:cNvSpPr/>
          <p:nvPr/>
        </p:nvSpPr>
        <p:spPr>
          <a:xfrm>
            <a:off x="4663440" y="146304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60020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sp>
        <p:nvSpPr>
          <p:cNvPr id="15" name="Text 12"/>
          <p:cNvSpPr/>
          <p:nvPr/>
        </p:nvSpPr>
        <p:spPr>
          <a:xfrm>
            <a:off x="4800600" y="160020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-18%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97880" y="160020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Снижение дефолтов NPL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00600" y="2084832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Ранняя идентификация кассового стресса за 30 дней защищает кредитный портфель банка от невозвратов.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731520" y="278892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292608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₽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96596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Затраты на привлечение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68680" y="3410712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Бесплатный радар ликвидности работает как мощный якорный магнит РКО, удерживая компании в банке.</a:t>
            </a:r>
            <a:endParaRPr lang="en-US" sz="880" dirty="0"/>
          </a:p>
        </p:txBody>
      </p:sp>
      <p:sp>
        <p:nvSpPr>
          <p:cNvPr id="23" name="Shape 20"/>
          <p:cNvSpPr/>
          <p:nvPr/>
        </p:nvSpPr>
        <p:spPr>
          <a:xfrm>
            <a:off x="4663440" y="2788920"/>
            <a:ext cx="370332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00600" y="2926080"/>
            <a:ext cx="1005840" cy="411480"/>
          </a:xfrm>
          <a:prstGeom prst="roundRect">
            <a:avLst>
              <a:gd name="adj" fmla="val 11111"/>
            </a:avLst>
          </a:prstGeom>
          <a:solidFill>
            <a:srgbClr val="F0FDF4"/>
          </a:solidFill>
          <a:ln/>
        </p:spPr>
      </p:sp>
      <p:sp>
        <p:nvSpPr>
          <p:cNvPr id="25" name="Text 22"/>
          <p:cNvSpPr/>
          <p:nvPr/>
        </p:nvSpPr>
        <p:spPr>
          <a:xfrm>
            <a:off x="4800600" y="2926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спринт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5897880" y="29260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Быстрое встраивание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00600" y="3410712"/>
            <a:ext cx="34290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Открытый REST API и готовый фронтенд-модуль легко интегрируются в существующий интернет-банк «Центр-инвест Бизнес».</a:t>
            </a:r>
            <a:endParaRPr lang="en-US" sz="880" dirty="0"/>
          </a:p>
        </p:txBody>
      </p:sp>
      <p:sp>
        <p:nvSpPr>
          <p:cNvPr id="28" name="Shape 25"/>
          <p:cNvSpPr/>
          <p:nvPr/>
        </p:nvSpPr>
        <p:spPr>
          <a:xfrm>
            <a:off x="731520" y="4251960"/>
            <a:ext cx="763524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50B84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4251960"/>
            <a:ext cx="7269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СИНЕРГИЯ ХАКАТОНА И БАНКА: </a:t>
            </a:r>
            <a:pPr indent="0" marL="0">
              <a:buNone/>
            </a:pPr>
            <a:r>
              <a:rPr lang="en-US" sz="9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Банк получает готовый микросервис предиктивного кредитования, а малый бизнес Юга России — защиту от дефолта.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200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200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 RND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86000" y="3200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КЕЙС БАНКА «ЦЕНТР-ИНВЕСТ»</a:t>
            </a:r>
            <a:endParaRPr lang="en-US" sz="850" dirty="0"/>
          </a:p>
        </p:txBody>
      </p:sp>
      <p:pic>
        <p:nvPicPr>
          <p:cNvPr id="5" name="Image 0" descr="/home/ijstt/hackrnd-2026/docs/logo_centr_inv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0" y="274320"/>
            <a:ext cx="1371600" cy="2926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68580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ИТОГИ ХАКАТОНА И ГОТОВНОСТЬ К ПИЛОТУ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31520" y="109728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Patch_Note создала законченный инженерный продукт за 48 часов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1520" y="1463040"/>
            <a:ext cx="37033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6002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PATCH_NOTE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1920240"/>
            <a:ext cx="333756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Владимир Федорко
</a:t>
            </a:r>
            <a:pPr indent="0" marL="0">
              <a:buNone/>
            </a:pPr>
            <a:r>
              <a:rPr lang="en-US" sz="95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Backend, Математическое ядро, FPT &amp; Conformal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Разработал математический аппарат, парсер выписок 1С, FastAPI бэкенд и 89 регрессионных тестов.
</a:t>
            </a:r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Владислав Паршин
</a:t>
            </a:r>
            <a:pPr indent="0" marL="0">
              <a:buNone/>
            </a:pPr>
            <a:r>
              <a:rPr lang="en-US" sz="95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Frontend, UI &amp; UX Engineering, Дизайн-система
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Создал реактивный дашборд на React 18, визуализацию Recharts и адаптивную верстку по брендбуку.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663440" y="1463040"/>
            <a:ext cx="3703320" cy="246888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46320" y="1600200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0B8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СДЕЛАНО ЗА 48 ЧАСОВ ХАКАТОНА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846320" y="196596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Полный рабочий стек: FastAPI + React 18 + PostgreSQL</a:t>
            </a:r>
            <a:endParaRPr lang="en-US" sz="920" dirty="0"/>
          </a:p>
        </p:txBody>
      </p:sp>
      <p:sp>
        <p:nvSpPr>
          <p:cNvPr id="14" name="Text 11"/>
          <p:cNvSpPr/>
          <p:nvPr/>
        </p:nvSpPr>
        <p:spPr>
          <a:xfrm>
            <a:off x="4846320" y="23317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Синхронизация контрактов данных (TypeScript &lt;-&gt; Pydantic)</a:t>
            </a:r>
            <a:endParaRPr lang="en-US" sz="920" dirty="0"/>
          </a:p>
        </p:txBody>
      </p:sp>
      <p:sp>
        <p:nvSpPr>
          <p:cNvPr id="15" name="Text 12"/>
          <p:cNvSpPr/>
          <p:nvPr/>
        </p:nvSpPr>
        <p:spPr>
          <a:xfrm>
            <a:off x="4846320" y="269748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89 автоматических тестов на граничные условия и сбои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4846320" y="306324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Парсер реальных выписок 1С с очисткой НДС и ИНН</a:t>
            </a:r>
            <a:endParaRPr lang="en-US" sz="920" dirty="0"/>
          </a:p>
        </p:txBody>
      </p:sp>
      <p:sp>
        <p:nvSpPr>
          <p:cNvPr id="17" name="Text 14"/>
          <p:cNvSpPr/>
          <p:nvPr/>
        </p:nvSpPr>
        <p:spPr>
          <a:xfrm>
            <a:off x="4846320" y="34290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1C41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Готовность к интеграции в ДБО банка за 1 рабочий спринт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731520" y="4069080"/>
            <a:ext cx="7635240" cy="731520"/>
          </a:xfrm>
          <a:prstGeom prst="roundRect">
            <a:avLst>
              <a:gd name="adj" fmla="val 10000"/>
            </a:avLst>
          </a:prstGeom>
          <a:solidFill>
            <a:srgbClr val="50B848"/>
          </a:solidFill>
          <a:ln/>
        </p:spPr>
      </p:sp>
      <p:sp>
        <p:nvSpPr>
          <p:cNvPr id="19" name="Text 16"/>
          <p:cNvSpPr/>
          <p:nvPr/>
        </p:nvSpPr>
        <p:spPr>
          <a:xfrm>
            <a:off x="914400" y="4069080"/>
            <a:ext cx="7269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ПРИГЛАШАЕМ ЖЮРИ К ЖИВОЙ ДЕМОНСТРАЦИИ СЕРВИСА «ПОТОК»!
</a:t>
            </a:r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Patch_Note готова показать работу на реальной выписке 1С и ответить на вопросы.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2026-10-25T03:09:04Z</dcterms:created>
  <dcterms:modified xsi:type="dcterms:W3CDTF">2026-10-25T03:09:04Z</dcterms:modified>
</cp:coreProperties>
</file>